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เปิดตัว" id="{d7d1be44-2df6-acaf-d71c-a2f7b12d79b5}">
          <p14:sldIdLst>
            <p14:sldId id="256"/>
          </p14:sldIdLst>
        </p14:section>
        <p14:section name="โจทย์" id="{8110eaee-2ba0-e65d-2480-eb6e5ca469be}">
          <p14:sldIdLst>
            <p14:sldId id="257"/>
            <p14:sldId id="258"/>
          </p14:sldIdLst>
        </p14:section>
        <p14:section name="ออกแบบ OOP" id="{131bf525-2115-b931-6df2-f2c855d4dcc1}">
          <p14:sldIdLst>
            <p14:sldId id="259"/>
            <p14:sldId id="260"/>
            <p14:sldId id="261"/>
            <p14:sldId id="262"/>
          </p14:sldIdLst>
        </p14:section>
        <p14:section name="หัวใจของระบบ" id="{2677437e-77dd-1af9-2169-3868206e4d56}">
          <p14:sldIdLst>
            <p14:sldId id="263"/>
          </p14:sldIdLst>
        </p14:section>
        <p14:section name="สาธิต" id="{91aaab5c-1ad6-298f-00f8-166f0e1764e4}">
          <p14:sldIdLst>
            <p14:sldId id="264"/>
            <p14:sldId id="265"/>
          </p14:sldIdLst>
        </p14:section>
        <p14:section name="ปิดท้าย" id="{5cd667b8-48ea-7645-51c2-f7a2d525df4a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แนะนำตัว: ระบบจองสนามแบดมินตันที่เขียนด้วย Java และ JavaFX เป็นโปรแกรม GUI บน Windows ใช้ OOP ครบทั้ง interface, abstract class, inheritance, polymorphism และ encapsulation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อ่านโจทย์ทีละข้อจากการ์ด: 12 สนาม 180 บาท, เวลาเปิด, แพกเกจ, ส่วนลดชั่วโมงที่ 20, เช่าอุปกรณ์ และผู้ใช้ระบบ 2 บทบาท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ตอบคำถามว่าทำไมไม่มี role ลูกค้า: บรีฟระบุผู้ใช้ระบบคือแคชเชียร์กับผู้ดูแลระบบ และแคชเชียร์กรอกการจองให้ สมาชิกเป็นข้อมูล ผู้เล่นเช่า/ซื้อได้โดยไม่ต้องเป็นสมาชิก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ไม่มีโค้ดหน้าจอเลย service คือ Club ที่ทุกคำสั่งต้องผ่าน ui คือหน้าจอ กฎทุกข้ออยู่ใน ClubRules แก้ราคาที่เดียว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ชี้ให้ดู interface Billable, abstract User และ abstract Page รวมถึง record ที่ใช้กับข้อมูลที่ไม่เปลี่ยน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อะไรก็ตามที่ทำให้มีรายได้จะ implement Billable รายงานวนลูปเดียวเรียก amount() โดยไม่ต้องรู้ว่าเป็นคลาสไหน เพิ่มประเภทใหม่ก็ไม่ต้องแก้รายงาน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แต่ละบทบาทบอกเองว่าใช้เมนูอะไร หน้าหลักจึงไม่มี if-else ตรวจสิทธิ์ ส่วน abstract Page บังคับให้ทุกหน้ามี refresh()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ตัวเลขนี้ตรงกับเทสต์ใน ClubTest: 180 + 54 + 180 = 414 บาท แพกเกจถูกใช้ก่อน ชั่วโมงแพกเกจไม่นับสะสมส่วนลด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สาธิต: เลือกช่อง ขยายเวลา พิมพ์เบอร์ค้นหาสมาชิก ดูราคา แนบสลิป ยืนยัน แล้วลองจองด้วยแพกเกจให้เห็นว่ายอดเป็น 0 บาท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ร้านค้ามีภาพสินค้าจริงและตะกร้า, ค้นหาด้วยชื่อ/เบอร์/รหัส, แอดมินดูรายได้แยกประเภทและประวัติของสมาชิกแต่ละคน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รัน ClubTest ใน IntelliJ ให้เห็นว่าผ่านทั้ง 10 ข้อ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สรุป: ครบทุกข้อตามโจทย์ ใช้ OOP เพราะจำเป็นจริง ไม่ได้ใส่ไว้แค่ให้มี เปิดรับคำถาม (ดูคำตอบเตรียมไว้ใน docs/สคริปต์นำเสนอ.md)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52E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48463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48463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A7F3D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064E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Badminton Club · OOP Project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Leelawadee UI"/>
                <a:ea typeface="Leelawadee UI"/>
                <a:cs typeface="Leelawadee U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Leelawadee UI"/>
                <a:ea typeface="Leelawadee UI"/>
                <a:cs typeface="Leelawadee U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Badminton Club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7F3D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ระบบจองสนามแบดมินตัน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7F3D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Java 21 · JavaFX · OOP</a:t>
            </a:r>
            <a:endParaRPr lang="en-US" sz="1600" dirty="0"/>
          </a:p>
        </p:txBody>
      </p:sp>
      <p:pic>
        <p:nvPicPr>
          <p:cNvPr id="4" name="01-login.png" descr="C:/BadmintonBookingSystem/BadmintonBookingSystem/docs/screenshots/01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325880"/>
            <a:ext cx="3200400" cy="2036618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64E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โจทย์ในตัวเลข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260604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12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476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สนาม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ราคาชั่วโมงละ 180 บาท</a:t>
            </a:r>
            <a:endParaRPr lang="en-US" sz="1100" dirty="0"/>
          </a:p>
        </p:txBody>
      </p:sp>
      <p:sp>
        <p:nvSpPr>
          <p:cNvPr id="7" name="card"/>
          <p:cNvSpPr/>
          <p:nvPr/>
        </p:nvSpPr>
        <p:spPr>
          <a:xfrm>
            <a:off x="3246120" y="1143000"/>
            <a:ext cx="260604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74720" y="13258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13–21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9476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วันธรรมดา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ส.–อา. และวันหยุด 10–20 น.</a:t>
            </a:r>
            <a:endParaRPr lang="en-US" sz="1100" dirty="0"/>
          </a:p>
        </p:txBody>
      </p:sp>
      <p:sp>
        <p:nvSpPr>
          <p:cNvPr id="11" name="card"/>
          <p:cNvSpPr/>
          <p:nvPr/>
        </p:nvSpPr>
        <p:spPr>
          <a:xfrm>
            <a:off x="6035040" y="1143000"/>
            <a:ext cx="260604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263640" y="13258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15 ชม.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19476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แพกเกจเหมาจ่าย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ราคา 2,600 บาท</a:t>
            </a:r>
            <a:endParaRPr lang="en-US" sz="1100" dirty="0"/>
          </a:p>
        </p:txBody>
      </p:sp>
      <p:sp>
        <p:nvSpPr>
          <p:cNvPr id="15" name="card"/>
          <p:cNvSpPr/>
          <p:nvPr/>
        </p:nvSpPr>
        <p:spPr>
          <a:xfrm>
            <a:off x="457200" y="2880360"/>
            <a:ext cx="260604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85800" y="30632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30%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36850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ชั่วโมงที่ 20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9776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จองครบ 19 ชม. ชม.ที่ 20 จ่าย 30%</a:t>
            </a:r>
            <a:endParaRPr lang="en-US" sz="1100" dirty="0"/>
          </a:p>
        </p:txBody>
      </p:sp>
      <p:sp>
        <p:nvSpPr>
          <p:cNvPr id="19" name="card"/>
          <p:cNvSpPr/>
          <p:nvPr/>
        </p:nvSpPr>
        <p:spPr>
          <a:xfrm>
            <a:off x="3246120" y="2880360"/>
            <a:ext cx="260604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3474720" y="30632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50 ฿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3474720" y="36850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เช่าอุปกรณ์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474720" y="39776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รองเท้า / ไม้ ต่อครั้งต่อวัน</a:t>
            </a:r>
            <a:endParaRPr lang="en-US" sz="1100" dirty="0"/>
          </a:p>
        </p:txBody>
      </p:sp>
      <p:sp>
        <p:nvSpPr>
          <p:cNvPr id="23" name="card"/>
          <p:cNvSpPr/>
          <p:nvPr/>
        </p:nvSpPr>
        <p:spPr>
          <a:xfrm>
            <a:off x="6035040" y="2880360"/>
            <a:ext cx="260604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263640" y="30632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6263640" y="36850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ผู้ใช้ระบบ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263640" y="39776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แคชเชียร์ และ ผู้ดูแลระบบ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Leelawadee UI"/>
                <a:ea typeface="Leelawadee UI"/>
                <a:cs typeface="Leelawadee U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64E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โจทย์แยกคน 3 กลุ่มชัดเจน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2606040" cy="274320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4" name="badge"/>
          <p:cNvSpPr/>
          <p:nvPr/>
        </p:nvSpPr>
        <p:spPr>
          <a:xfrm>
            <a:off x="685800" y="13716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3716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ผู้ใช้ระบบ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65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แคชเชียร์ (Jack) · ผู้ดูแลระบบ (นุ)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6060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ล็อกอินเข้าโปรแกรม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เป็นคลาส User → Cashier, Admin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3246120" y="1143000"/>
            <a:ext cx="2606040" cy="274320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0" name="badge"/>
          <p:cNvSpPr/>
          <p:nvPr/>
        </p:nvSpPr>
        <p:spPr>
          <a:xfrm>
            <a:off x="3474720" y="137160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7472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977640" y="13716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สมาชิก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1965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ลูกค้าที่แคชเชียร์สมัครให้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6060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จองสนามและซื้อแพกเกจได้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เป็นข้อมูล Member (ไม่ล็อกอิน)</a:t>
            </a:r>
            <a:endParaRPr lang="en-US" sz="1300" dirty="0"/>
          </a:p>
        </p:txBody>
      </p:sp>
      <p:sp>
        <p:nvSpPr>
          <p:cNvPr id="15" name="card"/>
          <p:cNvSpPr/>
          <p:nvPr/>
        </p:nvSpPr>
        <p:spPr>
          <a:xfrm>
            <a:off x="6035040" y="1143000"/>
            <a:ext cx="2606040" cy="274320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6" name="badge"/>
          <p:cNvSpPr/>
          <p:nvPr/>
        </p:nvSpPr>
        <p:spPr>
          <a:xfrm>
            <a:off x="6263640" y="1371600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6364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13716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ผู้เล่น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1965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ใครก็ได้ที่มาเล่น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26060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เช่า/ซื้ออุปกรณ์ได้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ไม่ต้องเป็นสมาชิก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บรีฟ: "พนักงานแคชเชียร์เป็นผู้กรอกข้อมูลการจองให้" — ลูกค้าจึงไม่ต้องมี role ของตัวเอง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Leelawadee UI"/>
                <a:ea typeface="Leelawadee UI"/>
                <a:cs typeface="Leelawadee U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64E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แบ่งโค้ดเป็น 3 ชั้น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822960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4" name="layer-chip"/>
          <p:cNvSpPr/>
          <p:nvPr/>
        </p:nvSpPr>
        <p:spPr>
          <a:xfrm>
            <a:off x="640080" y="1280160"/>
            <a:ext cx="1371600" cy="594360"/>
          </a:xfrm>
          <a:prstGeom prst="roundRect">
            <a:avLst>
              <a:gd name="adj" fmla="val 1538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ui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240280" y="12344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หน้าจอ JavaFX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2240280" y="160020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LoginView · MainView · Page ทุกหน้า · style.css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457200" y="2240280"/>
            <a:ext cx="822960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9" name="layer-chip"/>
          <p:cNvSpPr/>
          <p:nvPr/>
        </p:nvSpPr>
        <p:spPr>
          <a:xfrm>
            <a:off x="640080" y="2423160"/>
            <a:ext cx="1371600" cy="594360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4231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service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240280" y="23774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Club — ศูนย์กลางข้อมูล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2240280" y="274320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ตรวจกฎก่อนบันทึกทุกครั้ง · บันทึกไฟล์ · ย้อนข้อมูลถ้าบันทึกพลาด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457200" y="3383280"/>
            <a:ext cx="822960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4" name="layer-chip"/>
          <p:cNvSpPr/>
          <p:nvPr/>
        </p:nvSpPr>
        <p:spPr>
          <a:xfrm>
            <a:off x="640080" y="3566160"/>
            <a:ext cx="1371600" cy="594360"/>
          </a:xfrm>
          <a:prstGeom prst="roundRect">
            <a:avLst>
              <a:gd name="adj" fmla="val 1538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5661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model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2240280" y="35204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ข้อมูล + กฎธุรกิจ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2240280" y="388620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Member · Booking · Quote · ClubRules (กฎทุกข้อในไฟล์เดียว)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Leelawadee UI"/>
                <a:ea typeface="Leelawadee UI"/>
                <a:cs typeface="Leelawadee U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64E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Class Diagram</a:t>
            </a:r>
            <a:endParaRPr lang="en-US" sz="2800" dirty="0"/>
          </a:p>
        </p:txBody>
      </p:sp>
      <p:pic>
        <p:nvPicPr>
          <p:cNvPr id="3" name="class-diagram" descr="C:/BadmintonBookingSystem/BadmintonBookingSystem/docs/diagrams/class-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3931920" cy="3653961"/>
          </a:xfrm>
          <a:prstGeom prst="rect">
            <a:avLst/>
          </a:prstGeom>
        </p:spPr>
      </p:pic>
      <p:sp>
        <p:nvSpPr>
          <p:cNvPr id="4" name="badge"/>
          <p:cNvSpPr/>
          <p:nvPr/>
        </p:nvSpPr>
        <p:spPr>
          <a:xfrm>
            <a:off x="4754880" y="114300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75488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I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303520" y="11247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interface Billable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303520" y="144475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การจอง แพกเกจ และร้านค้า ใช้รวมรายได้</a:t>
            </a:r>
            <a:endParaRPr lang="en-US" sz="1200" dirty="0"/>
          </a:p>
        </p:txBody>
      </p:sp>
      <p:sp>
        <p:nvSpPr>
          <p:cNvPr id="8" name="badge"/>
          <p:cNvSpPr/>
          <p:nvPr/>
        </p:nvSpPr>
        <p:spPr>
          <a:xfrm>
            <a:off x="4754880" y="20116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75488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303520" y="19933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abstract User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231343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Cashier และ Admin บอกเมนูของตัวเอง</a:t>
            </a:r>
            <a:endParaRPr lang="en-US" sz="1200" dirty="0"/>
          </a:p>
        </p:txBody>
      </p:sp>
      <p:sp>
        <p:nvSpPr>
          <p:cNvPr id="12" name="badge"/>
          <p:cNvSpPr/>
          <p:nvPr/>
        </p:nvSpPr>
        <p:spPr>
          <a:xfrm>
            <a:off x="4754880" y="28803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5488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303520" y="28620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abstract Page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5303520" y="318211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ทุกหน้าจอมี refresh() ร่วมกัน</a:t>
            </a:r>
            <a:endParaRPr lang="en-US" sz="1200" dirty="0"/>
          </a:p>
        </p:txBody>
      </p:sp>
      <p:sp>
        <p:nvSpPr>
          <p:cNvPr id="16" name="badge"/>
          <p:cNvSpPr/>
          <p:nvPr/>
        </p:nvSpPr>
        <p:spPr>
          <a:xfrm>
            <a:off x="4754880" y="3749040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75488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R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0" y="37307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record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0" y="405079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Booking · Quote ข้อมูลที่ไม่เปลี่ยนหลังบันทึก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Leelawadee UI"/>
                <a:ea typeface="Leelawadee UI"/>
                <a:cs typeface="Leelawadee U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64E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Interface: รวมรายได้ด้วยลูปเดียว</a:t>
            </a:r>
            <a:endParaRPr lang="en-US" sz="2800" dirty="0"/>
          </a:p>
        </p:txBody>
      </p:sp>
      <p:sp>
        <p:nvSpPr>
          <p:cNvPr id="3" name="code-bg"/>
          <p:cNvSpPr/>
          <p:nvPr/>
        </p:nvSpPr>
        <p:spPr>
          <a:xfrm>
            <a:off x="457200" y="1097280"/>
            <a:ext cx="4572000" cy="3383280"/>
          </a:xfrm>
          <a:prstGeom prst="roundRect">
            <a:avLst>
              <a:gd name="adj" fmla="val 270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code"/>
          <p:cNvSpPr txBox="1"/>
          <p:nvPr/>
        </p:nvSpPr>
        <p:spPr>
          <a:xfrm>
            <a:off x="685800" y="1261872"/>
            <a:ext cx="4114800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 Billable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LocalDate paidOn();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RevenueType type();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amount();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Club.revenue()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(Billable b : transactions())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sum.merge(b.type(), b.amount(), ...);</a:t>
            </a:r>
            <a:endParaRPr lang="en-US" sz="1200" dirty="0"/>
          </a:p>
        </p:txBody>
      </p:sp>
      <p:sp>
        <p:nvSpPr>
          <p:cNvPr id="5" name="card"/>
          <p:cNvSpPr/>
          <p:nvPr/>
        </p:nvSpPr>
        <p:spPr>
          <a:xfrm>
            <a:off x="5394960" y="1097280"/>
            <a:ext cx="329184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577840" y="10972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Booking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406640" y="109728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ค่าสนาม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5394960" y="1874520"/>
            <a:ext cx="329184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577840" y="18745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PackagePurchase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406640" y="187452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แพกเกจ</a:t>
            </a:r>
            <a:endParaRPr lang="en-US" sz="1300" dirty="0"/>
          </a:p>
        </p:txBody>
      </p:sp>
      <p:sp>
        <p:nvSpPr>
          <p:cNvPr id="11" name="card"/>
          <p:cNvSpPr/>
          <p:nvPr/>
        </p:nvSpPr>
        <p:spPr>
          <a:xfrm>
            <a:off x="5394960" y="2651760"/>
            <a:ext cx="329184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577840" y="2651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ShopSale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265176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เช่า / ขาย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394960" y="35661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เพิ่มรายได้ประเภทใหม่ = implement Billable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หน้ารายงานไม่ต้องแก้ (polymorphism)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Leelawadee UI"/>
                <a:ea typeface="Leelawadee UI"/>
                <a:cs typeface="Leelawadee U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64E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Abstract class: ไม่มี if-else เช็กสิทธิ์</a:t>
            </a:r>
            <a:endParaRPr lang="en-US" sz="2800" dirty="0"/>
          </a:p>
        </p:txBody>
      </p:sp>
      <p:sp>
        <p:nvSpPr>
          <p:cNvPr id="3" name="code-bg"/>
          <p:cNvSpPr/>
          <p:nvPr/>
        </p:nvSpPr>
        <p:spPr>
          <a:xfrm>
            <a:off x="457200" y="1097280"/>
            <a:ext cx="4572000" cy="3383280"/>
          </a:xfrm>
          <a:prstGeom prst="roundRect">
            <a:avLst>
              <a:gd name="adj" fmla="val 270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code"/>
          <p:cNvSpPr txBox="1"/>
          <p:nvPr/>
        </p:nvSpPr>
        <p:spPr>
          <a:xfrm>
            <a:off x="685800" y="1261872"/>
            <a:ext cx="4114800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abstract class User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abstract List&lt;Menu&gt; menus();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Cashier extends User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menus() → จอง, ค้นหา, สมาชิก, ร้าน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Admin extends User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menus() → รายได้, ประวัติสมาชิก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pic>
        <p:nvPicPr>
          <p:cNvPr id="5" name="06-revenue.png" descr="C:/BadmintonBookingSystem/BadmintonBookingSystem/docs/screenshots/06-reven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097280"/>
            <a:ext cx="3291840" cy="2094807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5394960" y="33375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หน้าหลักสร้างเมนูจาก user.menus()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สลับหน้าแล้วเรียก page.refresh() ได้ทุกหน้า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Leelawadee UI"/>
                <a:ea typeface="Leelawadee UI"/>
                <a:cs typeface="Leelawadee U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64E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คิดราคาอัตโนมัติตามกฎ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ตัวอย่าง: สมาชิกสะสมไว้ 18 ชม. จองเพิ่ม 3 ชม.</a:t>
            </a:r>
            <a:endParaRPr lang="en-US" sz="1500" dirty="0"/>
          </a:p>
        </p:txBody>
      </p:sp>
      <p:sp>
        <p:nvSpPr>
          <p:cNvPr id="4" name="card"/>
          <p:cNvSpPr/>
          <p:nvPr/>
        </p:nvSpPr>
        <p:spPr>
          <a:xfrm>
            <a:off x="457200" y="1645920"/>
            <a:ext cx="178308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7830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ชม.ที่ 19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488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180 ฿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8346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ราคาปกติ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2423160" y="1645920"/>
            <a:ext cx="1783080" cy="1737360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606040" y="17830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ชม.ที่ 20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21488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54 ฿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2606040" y="28346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ลด 70%</a:t>
            </a:r>
            <a:endParaRPr lang="en-US" sz="1200" dirty="0"/>
          </a:p>
        </p:txBody>
      </p:sp>
      <p:sp>
        <p:nvSpPr>
          <p:cNvPr id="12" name="card"/>
          <p:cNvSpPr/>
          <p:nvPr/>
        </p:nvSpPr>
        <p:spPr>
          <a:xfrm>
            <a:off x="4389120" y="1645920"/>
            <a:ext cx="178308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572000" y="17830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ชม.ที่ 21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21488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180 ฿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28346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ราคาปกติ</a:t>
            </a:r>
            <a:endParaRPr lang="en-US" sz="1200" dirty="0"/>
          </a:p>
        </p:txBody>
      </p:sp>
      <p:sp>
        <p:nvSpPr>
          <p:cNvPr id="16" name="card"/>
          <p:cNvSpPr/>
          <p:nvPr/>
        </p:nvSpPr>
        <p:spPr>
          <a:xfrm>
            <a:off x="6446520" y="1645920"/>
            <a:ext cx="2240280" cy="1737360"/>
          </a:xfrm>
          <a:prstGeom prst="roundRect">
            <a:avLst>
              <a:gd name="adj" fmla="val 6316"/>
            </a:avLst>
          </a:prstGeom>
          <a:solidFill>
            <a:schemeClr val="tx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629400" y="17830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F3D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ยอดชำระ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21488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414 ฿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28346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ClubRules.quote()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657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ใช้ชั่วโมงแพกเกจก่อน → ที่เหลือจ่ายเงินสด → ชั่วโมงเงินสดที่ 20, 40, 60, … คิด 30%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ถ้าจ่ายด้วยแพกเกจทั้งหมด ยอดเป็น 0 บาท จึงไม่ต้องแนบสลิป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Leelawadee UI"/>
                <a:ea typeface="Leelawadee UI"/>
                <a:cs typeface="Leelawadee U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64E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หน้าจองสนาม</a:t>
            </a:r>
            <a:endParaRPr lang="en-US" sz="2800" dirty="0"/>
          </a:p>
        </p:txBody>
      </p:sp>
      <p:pic>
        <p:nvPicPr>
          <p:cNvPr id="3" name="02-booking.png" descr="C:/BadmintonBookingSystem/BadmintonBookingSystem/docs/screenshots/02-book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5486400" cy="3491345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pic>
      <p:sp>
        <p:nvSpPr>
          <p:cNvPr id="4" name="badge"/>
          <p:cNvSpPr/>
          <p:nvPr/>
        </p:nvSpPr>
        <p:spPr>
          <a:xfrm>
            <a:off x="6263640" y="10972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26364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766560" y="10789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ตาราง 12 สนาม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766560" y="1417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คลิกช่องว่าง คลิกต่อเพื่อขยายเวลา</a:t>
            </a:r>
            <a:endParaRPr lang="en-US" sz="1200" dirty="0"/>
          </a:p>
        </p:txBody>
      </p:sp>
      <p:sp>
        <p:nvSpPr>
          <p:cNvPr id="8" name="badge"/>
          <p:cNvSpPr/>
          <p:nvPr/>
        </p:nvSpPr>
        <p:spPr>
          <a:xfrm>
            <a:off x="6263640" y="22402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26364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766560" y="22219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รู้วันหยุดเอง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766560" y="2560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เวลาเปิด-ปิดเปลี่ยนตามวัน</a:t>
            </a:r>
            <a:endParaRPr lang="en-US" sz="1200" dirty="0"/>
          </a:p>
        </p:txBody>
      </p:sp>
      <p:sp>
        <p:nvSpPr>
          <p:cNvPr id="12" name="badge"/>
          <p:cNvSpPr/>
          <p:nvPr/>
        </p:nvSpPr>
        <p:spPr>
          <a:xfrm>
            <a:off x="6263640" y="33832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26364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766560" y="33649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ราคาขึ้นทันที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766560" y="3703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บอกว่าต้องแนบสลิปไหม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Leelawadee UI"/>
                <a:ea typeface="Leelawadee UI"/>
                <a:cs typeface="Leelawadee U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64E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ครบทุกหน้าที่โจทย์ต้องการ</a:t>
            </a:r>
            <a:endParaRPr lang="en-US" sz="2800" dirty="0"/>
          </a:p>
        </p:txBody>
      </p:sp>
      <p:pic>
        <p:nvPicPr>
          <p:cNvPr id="3" name="05-shop.png" descr="C:/BadmintonBookingSystem/BadmintonBookingSystem/docs/screenshots/05-sh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2514600" cy="160020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3108960" y="15087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เช่า / ซื้ออุปกรณ์</a:t>
            </a:r>
            <a:endParaRPr lang="en-US" sz="1400" dirty="0"/>
          </a:p>
        </p:txBody>
      </p:sp>
      <p:pic>
        <p:nvPicPr>
          <p:cNvPr id="5" name="03-search.png" descr="C:/BadmintonBookingSystem/BadmintonBookingSystem/docs/screenshots/03-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05840"/>
            <a:ext cx="2514600" cy="160020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pic>
      <p:sp>
        <p:nvSpPr>
          <p:cNvPr id="6" name="Text 2"/>
          <p:cNvSpPr txBox="1"/>
          <p:nvPr/>
        </p:nvSpPr>
        <p:spPr>
          <a:xfrm>
            <a:off x="7315200" y="15087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ค้นหาการจอง</a:t>
            </a:r>
            <a:endParaRPr lang="en-US" sz="1400" dirty="0"/>
          </a:p>
        </p:txBody>
      </p:sp>
      <p:pic>
        <p:nvPicPr>
          <p:cNvPr id="7" name="07-revenue-monthly.png" descr="C:/BadmintonBookingSystem/BadmintonBookingSystem/docs/screenshots/07-revenue-monthl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80360"/>
            <a:ext cx="2514600" cy="160020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pic>
      <p:sp>
        <p:nvSpPr>
          <p:cNvPr id="8" name="Text 3"/>
          <p:cNvSpPr txBox="1"/>
          <p:nvPr/>
        </p:nvSpPr>
        <p:spPr>
          <a:xfrm>
            <a:off x="3108960" y="33832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รายได้รายวัน / รายเดือน</a:t>
            </a:r>
            <a:endParaRPr lang="en-US" sz="1400" dirty="0"/>
          </a:p>
        </p:txBody>
      </p:sp>
      <p:pic>
        <p:nvPicPr>
          <p:cNvPr id="9" name="08-history.png" descr="C:/BadmintonBookingSystem/BadmintonBookingSystem/docs/screenshots/08-hist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880360"/>
            <a:ext cx="2514600" cy="160020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pic>
      <p:sp>
        <p:nvSpPr>
          <p:cNvPr id="10" name="Text 4"/>
          <p:cNvSpPr txBox="1"/>
          <p:nvPr/>
        </p:nvSpPr>
        <p:spPr>
          <a:xfrm>
            <a:off x="7315200" y="33832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ประวัติสมาชิก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Leelawadee UI"/>
                <a:ea typeface="Leelawadee UI"/>
                <a:cs typeface="Leelawadee U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64E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เชื่อถือได้ ไม่ใช่แค่สวย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2377440" cy="32918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10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688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7F3D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เทสต์อัตโนมัติ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A7F3D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ผ่านทั้งหมด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154680" y="1188720"/>
            <a:ext cx="55321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ส่วนลดชั่วโมงที่ 20 และการหักแพกเกจ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กันจองซ้อน · กันจองนอกเวลาหรือเวลาที่ผ่านไปแล้ว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วันหยุดนักขัตฤกษ์ รวมวันหยุดตามจันทรคติ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บันทึกแล้วเปิดใหม่ ข้อมูลยังครบ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ไฟล์เสียไม่ทำให้ข้อมูลหาย (เก็บสำรองให้)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Leelawadee UI"/>
                <a:ea typeface="Leelawadee UI"/>
                <a:cs typeface="Leelawadee U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ตรงโจทย์ 13/13 ข้อ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7F3D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ใช้ OOP อย่างมีเหตุผล · โค้ดอ่านง่าย แก้ง่าย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7F3D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ขอบคุณครับ — มีคำถามไหมครับ</a:t>
            </a:r>
            <a:endParaRPr lang="en-US" sz="1600" dirty="0"/>
          </a:p>
        </p:txBody>
      </p:sp>
      <p:pic>
        <p:nvPicPr>
          <p:cNvPr id="4" name="use-case.png" descr="C:/BadmintonBookingSystem/BadmintonBookingSystem/docs/diagrams/use-c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234440"/>
            <a:ext cx="3200400" cy="2647936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adminton Club">
  <a:themeElements>
    <a:clrScheme name="Badminton Club">
      <a:dk1>
        <a:srgbClr val="0F172A"/>
      </a:dk1>
      <a:lt1>
        <a:srgbClr val="FFFFFF"/>
      </a:lt1>
      <a:dk2>
        <a:srgbClr val="064E3B"/>
      </a:dk2>
      <a:lt2>
        <a:srgbClr val="F1F5F3"/>
      </a:lt2>
      <a:accent1>
        <a:srgbClr val="059669"/>
      </a:accent1>
      <a:accent2>
        <a:srgbClr val="4F46E5"/>
      </a:accent2>
      <a:accent3>
        <a:srgbClr val="D97706"/>
      </a:accent3>
      <a:accent4>
        <a:srgbClr val="DB2777"/>
      </a:accent4>
      <a:accent5>
        <a:srgbClr val="0891B2"/>
      </a:accent5>
      <a:accent6>
        <a:srgbClr val="7C3AED"/>
      </a:accent6>
      <a:hlink>
        <a:srgbClr val="059669"/>
      </a:hlink>
      <a:folHlink>
        <a:srgbClr val="4F46E5"/>
      </a:folHlink>
    </a:clrScheme>
    <a:fontScheme name="Badminton Club">
      <a:majorFont>
        <a:latin typeface="Leelawade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eelawade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Badminton Club — ระบบจองสนามแบดมินตัน</dc:title>
  <dc:subject>PptxGenJS Presentation</dc:subject>
  <dc:creator>PptxGenJS</dc:creator>
  <cp:lastModifiedBy>PptxGenJS</cp:lastModifiedBy>
  <cp:revision>1</cp:revision>
  <dcterms:created xsi:type="dcterms:W3CDTF">2026-10-12T23:00:09Z</dcterms:created>
  <dcterms:modified xsi:type="dcterms:W3CDTF">2026-10-12T23:00:09Z</dcterms:modified>
</cp:coreProperties>
</file>